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安全监视器与求解器实验框架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060"/>
                </a:solidFill>
              </a:defRPr>
            </a:pPr>
            <a:r>
              <a:t>面向无人机安全自主飞行的 ODE 稳定域分析与安全边界形式化验证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22222"/>
                </a:solidFill>
              </a:defRPr>
            </a:pPr>
            <a:r>
              <a:t>Crazyflie 2.1 集群仿真系统增强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运行时安全监视器 (SafetyMonitor)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区间可达集近似分析 (Interval Reachability)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求解器稳定域对比实验框架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自动化图表生成与报告系统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06060"/>
                </a:solidFill>
              </a:defRPr>
            </a:pPr>
            <a: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新增功能总览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060"/>
                </a:solidFill>
              </a:defRPr>
            </a:pPr>
            <a:r>
              <a:t>四大模块，覆盖安全监视 → 形式化验证 → 实验对比 → 自动化报告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22222"/>
                </a:solidFill>
              </a:defRPr>
            </a:pPr>
            <a:r>
              <a:t>📊  四大新增功能模块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关键指标/方法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输出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安全监视器</a:t>
                      </a:r>
                    </a:p>
                    <a:p>
                      <a:pPr algn="ctr">
                        <a:defRPr sz="1000"/>
                      </a:pPr>
                      <a:r>
                        <a:t>(SafetyMonitor)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每步形式化安全条件检查</a:t>
                      </a:r>
                    </a:p>
                    <a:p>
                      <a:pPr algn="ctr">
                        <a:defRPr sz="1000"/>
                      </a:pPr>
                      <a:r>
                        <a:t>碰撞/速度/姿态/能量漂移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 维 □不变式</a:t>
                      </a:r>
                    </a:p>
                    <a:p>
                      <a:pPr algn="ctr">
                        <a:defRPr sz="1000"/>
                      </a:pPr>
                      <a:r>
                        <a:t>预热机制 (2s)</a:t>
                      </a:r>
                    </a:p>
                    <a:p>
                      <a:pPr algn="ctr">
                        <a:defRPr sz="1000"/>
                      </a:pPr>
                      <a:r>
                        <a:t>安全分数体系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safety_log.csv</a:t>
                      </a:r>
                    </a:p>
                    <a:p>
                      <a:pPr algn="ctr">
                        <a:defRPr sz="1000"/>
                      </a:pPr>
                      <a:r>
                        <a:t>Safety Summary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区间可达集</a:t>
                      </a:r>
                    </a:p>
                    <a:p>
                      <a:pPr algn="ctr">
                        <a:defRPr sz="1000"/>
                      </a:pPr>
                      <a:r>
                        <a:t>(Interval Reachability)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一步正向区间传播</a:t>
                      </a:r>
                    </a:p>
                    <a:p>
                      <a:pPr algn="ctr">
                        <a:defRPr sz="1000"/>
                      </a:pPr>
                      <a:r>
                        <a:t>最坏情况碰撞预警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采样法 (25次/步)</a:t>
                      </a:r>
                    </a:p>
                    <a:p>
                      <a:pPr algn="ctr">
                        <a:defRPr sz="1000"/>
                      </a:pPr>
                      <a:r>
                        <a:t>Jacobian法 (13次/步)</a:t>
                      </a:r>
                    </a:p>
                    <a:p>
                      <a:pPr algn="ctr">
                        <a:defRPr sz="1000"/>
                      </a:pPr>
                      <a:r>
                        <a:t>AABB-圆柱碰撞检测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实时 WARN 日志</a:t>
                      </a:r>
                    </a:p>
                    <a:p>
                      <a:pPr algn="ctr">
                        <a:defRPr sz="1000"/>
                      </a:pPr>
                      <a:r>
                        <a:t>d_min 输出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实验框架</a:t>
                      </a:r>
                    </a:p>
                    <a:p>
                      <a:pPr algn="ctr">
                        <a:defRPr sz="1000"/>
                      </a:pPr>
                      <a:r>
                        <a:t>(Experiment Framework)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全因子参数扫描</a:t>
                      </a:r>
                    </a:p>
                    <a:p>
                      <a:pPr algn="ctr">
                        <a:defRPr sz="1000"/>
                      </a:pPr>
                      <a:r>
                        <a:t>临界步长二分搜索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5求解器 × 5步长 × 3飞机数 × 2障碍物</a:t>
                      </a:r>
                    </a:p>
                    <a:p>
                      <a:pPr algn="ctr">
                        <a:defRPr sz="1000"/>
                      </a:pPr>
                      <a:r>
                        <a:t>150次实验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comparison_results.csv</a:t>
                      </a:r>
                    </a:p>
                    <a:p>
                      <a:pPr algn="ctr">
                        <a:defRPr sz="1000"/>
                      </a:pPr>
                      <a:r>
                        <a:t>safety_boundary_table.csv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图表生成</a:t>
                      </a:r>
                    </a:p>
                    <a:p>
                      <a:pPr algn="ctr">
                        <a:defRPr sz="1000"/>
                      </a:pPr>
                      <a:r>
                        <a:t>(Plot Results)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自适应单/多步长</a:t>
                      </a:r>
                    </a:p>
                    <a:p>
                      <a:pPr algn="ctr">
                        <a:defRPr sz="1000"/>
                      </a:pPr>
                      <a:r>
                        <a:t>柱状图/折线图/雷达图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 张报告级 PNG</a:t>
                      </a:r>
                    </a:p>
                    <a:p>
                      <a:pPr algn="ctr">
                        <a:defRPr sz="1000"/>
                      </a:pPr>
                      <a:r>
                        <a:t>150 DPI 高清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plots/*.png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七. 运行时安全监视器 (SafetyMonitor)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060"/>
                </a:solidFill>
              </a:defRPr>
            </a:pPr>
            <a:r>
              <a:t>形式化安全条件的在线运行时监控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设计动机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传统仿真依赖事后分析，无法实时检测违规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每步自动检查预定义的安全条件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将条件表达为时态逻辑不变式 □(condition)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四维安全条件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1. 碰撞安全: □(min d_surf &gt; 0)  — d_surf &gt; 0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2. 速度安全: □(|v_i| &lt; v_max)  — v_max = 2.5 m/s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3. 姿态安全: □(|θ_i| &lt; θ_max)  — θ_max = 0.8 rad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4. 能量漂移: □(|ΔE/Δt| &lt; ε)  — ε = 0.01 J/步 (诊断)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能量计算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E = ½·m·|v|² + ½·ωᵀ·I·ω + m·g·z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安全分数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compliance = N_compliant / N_total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overall = min(碰撞, 速度, 姿态)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预热机制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safety.warmup_time = 2.0 s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启动初期跳过碰撞/姿态检查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（无人机初始位置可能靠近障碍物）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548640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safety.v_max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safety.theta_max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safety.warmup_time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safety.log_path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safety.verbose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默认值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safety_log.csv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八. 区间可达集近似分析 (Interval Reachability)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060"/>
                </a:solidFill>
              </a:defRPr>
            </a:pPr>
            <a:r>
              <a:t>一步正向区间传播 — 最坏情况碰撞预警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问题定义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对初始状态 x 施加 ±ε 有界扰动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计算一步积分后的状态区间包围盒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保守检测包围盒是否与障碍物相交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在 ±ε 扰动下无交集 → 绝对不可能碰撞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采样法 (默认, 保守性强)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∀j ∈ [0,11]: x⁺ⱼ = solver(x + ε·eⱼ, u, h)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            x⁻ⱼ = solver(x − ε·eⱼ, u, h)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共 25 次求解器调用 (1 中心 + 12维×2方向)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Jacobian 法 (可选, 更快速)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J[:,j] = [solver(+ε) − solver(−ε)] / (2ε)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lower = x_center − |J|·ε·1₁₂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upper = x_center + |J|·ε·1₁₂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共 13 次求解器调用 (线性化近似)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AABB-圆柱碰撞检测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计算位置区间包围盒到圆柱轴心的最近点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d_xy &lt; r_obs 且 |dz| &lt; h/2 → 重叠告警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参数: reachability.enabled / epsilon /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669280"/>
            <a:ext cx="5486400" cy="1097280"/>
          </a:xfrm>
          <a:prstGeom prst="rect">
            <a:avLst/>
          </a:prstGeom>
          <a:solidFill>
            <a:srgbClr val="E8E8E8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06060"/>
                </a:solidFill>
              </a:defRPr>
            </a:pPr>
            <a:r>
              <a:t>[ 区间可达集示意图 (可达包围盒 vs 障碍物圆柱)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8122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06060"/>
                </a:solidFill>
              </a:defRPr>
            </a:pPr>
            <a:r>
              <a:t>区间可达集示意图 (可达包围盒 vs 障碍物圆柱)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九. 求解器对比实验框架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060"/>
                </a:solidFill>
              </a:defRPr>
            </a:pPr>
            <a:r>
              <a:t>全因子参数扫描 — 150 次自动实验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22222"/>
                </a:solidFill>
              </a:defRPr>
            </a:pPr>
            <a:r>
              <a:t>实验设计: 全因子参数扫描矩阵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扫描维度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取值集合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求解器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Euler, Heun, RK4, RK45, Implicit Euler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一阶→四阶→自适应→A-稳定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积分步长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0.001, 0.005, 0.01, 0.02, 0.05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覆盖精密→粗放范围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无人机数量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1, 4, 8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单机→小队→集群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障碍物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true,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有无环境障碍物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仿真时长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30.0 s (固定)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总计 5 × 5 × 3 × 2 = 150 次独立实验 | 每次 30s 仿真 | 全自动运行/采集/退出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实验模式 (Headless): 跳过所有 ROS 发布 (TF/odom/marker/clock)，纯数值积分 + 指标采集，最大化运行效率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6400800"/>
          <a:ext cx="1051560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1371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experiment.enabled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experiment.duration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experiment.headless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experiment.metrics_path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默认值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experiment_metrics.csv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九. 六维评估指标体系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060"/>
                </a:solidFill>
              </a:defRPr>
            </a:pPr>
            <a:r>
              <a:t>稳定性 · 安全性 · 精确性 · 实时性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符号/单位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期望方向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稳定性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能量漂移率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dE/dt (J/s)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总机械能变化速率，度量数值稳定性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↓ 越小越稳定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安全性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最小障碍物距离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d_min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全程最小 d_surf，负值 = 穿透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↑ 越大越安全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可控性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最大线速度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V_max (m/s)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速度极值，&gt;2.5 表失控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↓ 越小越可控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可控性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最大姿态角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θ_max (rad)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倾斜极值，&gt;0.8 表翻车风险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↓ 越小越稳定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精确性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RMS 位置误差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e_rms (m)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相对 RK45+dt=0.001 参考轨迹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↓ 越小越精确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实时性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平均计算耗时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T_avg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单步积分时间开销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↓ 越小越实时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C3333"/>
                </a:solidFill>
              </a:defRPr>
            </a:pPr>
            <a:r>
              <a:t>核心发现:  安全步长 &lt; 理论稳定步长</a:t>
            </a:r>
          </a:p>
          <a:p>
            <a:pPr>
              <a:spcAft>
                <a:spcPts val="600"/>
              </a:spcAft>
              <a:defRPr sz="1600">
                <a:solidFill>
                  <a:srgbClr val="CC3333"/>
                </a:solidFill>
              </a:defRPr>
            </a:pPr>
            <a:r>
              <a:t>数值稳定只是安全飞行的必要条件，而非充分条件。安全边界更窄，因为安全还需考虑物理约束（障碍物距离、速度上限、姿态限制）。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九. 临界步长二分搜索 + 图表生成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060"/>
                </a:solidFill>
              </a:defRPr>
            </a:pPr>
            <a:r>
              <a:t>从实验数据到报告级可视化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临界步长二分搜索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搜索范围: [0.001, 1.0] s, 精度 0.001 s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安全条件: 无 COLLISION / VELOCITY / ATTITUDE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    / ENERGY_DRIFT (&gt;50 J) 违规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输出: safe_step_size + unsafe_step_size + margin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预期结果: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Euler ≈ 0.02s  |  Heun ≈ 0.03s  |  RK4 ≈ 0.05s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RK45 ≈ 0.05s  |  Implicit ≈ 1.0s (A-稳定)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图表流水线 (plot_results.py)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自适应单/多步长: 柱状图 vs 折线图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支持 quick_compare 和 full_sweep 两种格式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6 张 150 DPI 报告级 PNG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01  能量漂移 vs 步长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02  障碍物距离 vs 步长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03  跟踪误差 vs 步长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04  计算耗时 vs 步长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05  各求解器安全临界步长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06  五维综合雷达图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5303520" cy="2377440"/>
          </a:xfrm>
          <a:prstGeom prst="rect">
            <a:avLst/>
          </a:prstGeom>
          <a:solidFill>
            <a:srgbClr val="E8E8E8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06060"/>
                </a:solidFill>
              </a:defRPr>
            </a:pPr>
            <a:r>
              <a:t>[ 01~03 实验对比图 (稳定性/安全性/精度)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550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06060"/>
                </a:solidFill>
              </a:defRPr>
            </a:pPr>
            <a:r>
              <a:t>01~03 实验对比图 (稳定性/安全性/精度)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931920"/>
            <a:ext cx="5303520" cy="2377440"/>
          </a:xfrm>
          <a:prstGeom prst="rect">
            <a:avLst/>
          </a:prstGeom>
          <a:solidFill>
            <a:srgbClr val="E8E8E8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06060"/>
                </a:solidFill>
              </a:defRPr>
            </a:pPr>
            <a:r>
              <a:t>[ 04~06 实验对比图 (性能/安全边界/雷达)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3550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06060"/>
                </a:solidFill>
              </a:defRPr>
            </a:pPr>
            <a:r>
              <a:t>04~06 实验对比图 (性能/安全边界/雷达)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十. 运行模式与使用指南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060"/>
                </a:solidFill>
              </a:defRPr>
            </a:pPr>
            <a:r>
              <a:t>7 种模式覆盖日常开发 → 批量实验 → 报告产出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模式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命令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GUI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耗时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正常仿真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./run_experiment.sh rk4 0.01 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RViz ✓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实时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日常开发与演示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安全监视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./run_safety_monitor.sh rk4 0.01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RViz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实时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违规实时告警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单次采集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./run_collect_data.sh rk4 0.01 4 60 true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60s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深度定量分析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快速对比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./run_quick_compare.sh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~2min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5求解器 × 15s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多步长对比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./run_multi_dt_compare.sh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~5min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5求解器 × 3步长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全因子扫描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python3 run_experiments.py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~2h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150次实验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临界步长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python3 safety_boundary_analysis.py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~30min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二分搜索安全边界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22222"/>
                </a:solidFill>
              </a:defRPr>
            </a:pPr>
            <a:r>
              <a:t>典型工作流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1. ./run_quick_compare.sh      ← 快速摸底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2. ./run_multi_dt_compare.sh   ← 看步长影响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3. python3 safety_boundary_analysis.py ← 找安全边界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4. python3 plot_results.py [csv]        ← 出图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463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22222"/>
                </a:solidFill>
              </a:defRPr>
            </a:pPr>
            <a:r>
              <a:t>关键参数速查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solver: euler | heun | rk4 | rk45 | implicit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step_size: 0.01 (正常) ~ 1.0 (极限测试)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enable_obstacles: true | false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experiment.enabled: true (自动采集模式)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experiment.headless: true (无GUI, 加速)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060"/>
                </a:solidFill>
              </a:defRPr>
            </a:pPr>
            <a:r>
              <a:t>四大模块 → 完整的安全验证与实验链路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🔒 安全监视器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四维 □不变式 每步检查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安全分数自动聚合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CSV 违规日志 + 关机摘要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📐 区间可达集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采样法/Jacobian 法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最坏情况碰撞预警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轻量级，无外部依赖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🔬 实验框架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150 次全因子扫描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临界步长二分搜索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六维评估指标体系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📊 图表生成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自适应单/多步长图表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6 张报告级 PNG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直接插入论文/PPT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3333"/>
                </a:solidFill>
              </a:defRPr>
            </a:pPr>
            <a:r>
              <a:t>技术贡献: 将数值分析 (ODE 稳定域) 与形式化方法 (安全条件不变式、区间可达集) 通过工程实现 (ROS 2 + C++ + Python) 有机融合，</a:t>
            </a:r>
          </a:p>
          <a:p>
            <a:pPr>
              <a:spcAft>
                <a:spcPts val="600"/>
              </a:spcAft>
              <a:defRPr sz="1300">
                <a:solidFill>
                  <a:srgbClr val="CC3333"/>
                </a:solidFill>
              </a:defRPr>
            </a:pPr>
            <a:r>
              <a:t>为「面向无人机安全自主飞行的 ODE 初值问题数值解法稳定域分析与安全边界形式化验证」提供了完整的实验验证平台。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